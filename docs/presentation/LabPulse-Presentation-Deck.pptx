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</ns0:sldIdLst>
  <ns0:sldSz cx="12192000" cy="6858000" type="screen4x3"/>
  <ns0:notesSz cx="6858000" cy="9144000"/>
  <ns0:embeddedFontLst>
    <ns0:embeddedFont>
      <ns0:font typeface="Plus Jakarta Sans"/>
      <ns0:bold ns1:id="rIdFont12"/>
      <ns0:regular ns1:id="rIdFont13"/>
    </ns0:embeddedFont>
    <ns0:embeddedFont>
      <ns0:font typeface="Space Grotesk"/>
      <ns0:bold ns1:id="rIdFont1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Font12" Type="http://schemas.openxmlformats.org/officeDocument/2006/relationships/font" Target="fonts/7d29ff36-7315-4800-8a2b-9137d1bb7ab7.fntdata" /><ns0:Relationship Id="rIdFont13" Type="http://schemas.openxmlformats.org/officeDocument/2006/relationships/font" Target="fonts/c4ed0e2a-3392-492f-a36e-422cb283f217.fntdata" /><ns0:Relationship Id="rIdFont14" Type="http://schemas.openxmlformats.org/officeDocument/2006/relationships/font" Target="fonts/66b4c3b4-62ca-4b13-ad14-db4822abcde4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083843" y="1826865"/>
            <a:ext cx="4024312" cy="371475"/>
          </a:xfrm>
          <a:prstGeom prst="roundRect">
            <a:avLst>
              <a:gd name="adj" fmla="val 50000"/>
            </a:avLst>
          </a:prstGeom>
          <a:solidFill>
            <a:srgbClr val="222556"/>
          </a:solidFill>
          <a:ln w="9525">
            <a:solidFill>
              <a:srgbClr val="373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76787" y="4392810"/>
            <a:ext cx="2638425" cy="638175"/>
          </a:xfrm>
          <a:prstGeom prst="roundRect">
            <a:avLst>
              <a:gd name="adj" fmla="val 17910"/>
            </a:avLst>
          </a:prstGeom>
          <a:solidFill>
            <a:srgbClr val="232545"/>
          </a:solidFill>
          <a:ln w="9525">
            <a:solidFill>
              <a:srgbClr val="2E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53012" y="4521398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1968" y="1936402"/>
            <a:ext cx="13335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52032" y="2465040"/>
            <a:ext cx="3487935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FFFFF"/>
                </a:solidFill>
                <a:latin typeface="Space Grotesk"/>
              </a:rPr>
              <a:t>LabPulse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8812" y="3326010"/>
            <a:ext cx="83343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94A3B8"/>
                </a:solidFill>
                <a:latin typeface="Plus Jakarta Sans"/>
              </a:rPr>
              <a:t>Smart Equipment Fault Reporting &amp; Duplicate Reduction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5635" y="1912590"/>
            <a:ext cx="414932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C7D2FE"/>
                </a:solidFill>
                <a:latin typeface="Plus Jakarta Sans"/>
              </a:rPr>
              <a:t>ShadowFox AWS Cloud Engineer Internship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0137" y="4521398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6412" y="4516635"/>
            <a:ext cx="194071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Adithyan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6412" y="4735710"/>
            <a:ext cx="19407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Cloud Engineering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01100" y="891480"/>
            <a:ext cx="2781300" cy="333375"/>
          </a:xfrm>
          <a:prstGeom prst="roundRect">
            <a:avLst>
              <a:gd name="adj" fmla="val 22857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74602"/>
            <a:ext cx="3505200" cy="2381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774602"/>
            <a:ext cx="3505200" cy="2381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774602"/>
            <a:ext cx="3505200" cy="2381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0" y="986730"/>
            <a:ext cx="14287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00" y="3088927"/>
            <a:ext cx="685800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100" y="3088927"/>
            <a:ext cx="685800" cy="685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6900" y="3088927"/>
            <a:ext cx="685800" cy="685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0750" y="3279427"/>
            <a:ext cx="3429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0" y="3279427"/>
            <a:ext cx="3810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7400" y="3279427"/>
            <a:ext cx="3048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90606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366F1"/>
                </a:solidFill>
                <a:latin typeface="Plus Jakarta Sans"/>
              </a:rPr>
              <a:t>THE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90575"/>
            <a:ext cx="9513689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Space Grotesk"/>
              </a:rPr>
              <a:t>What Happens in College Computer Labs?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2575" y="967680"/>
            <a:ext cx="28217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F4444"/>
                </a:solidFill>
                <a:latin typeface="Plus Jakarta Sans"/>
              </a:rPr>
              <a:t>Lab Communication Breakdown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451" y="4003327"/>
            <a:ext cx="397549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lus Jakarta Sans"/>
              </a:rPr>
              <a:t>Equipment Fault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106" y="4384327"/>
            <a:ext cx="37861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A single monitor or PC fails in a busy computer lab.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8251" y="4003327"/>
            <a:ext cx="397549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lus Jakarta Sans"/>
              </a:rPr>
              <a:t>Duplicate Spam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2906" y="4384327"/>
            <a:ext cx="37861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10 students send separate messages for the same broken screen.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2051" y="4003327"/>
            <a:ext cx="397549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lus Jakarta Sans"/>
              </a:rPr>
              <a:t>Zero Visibility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6706" y="4384327"/>
            <a:ext cx="37861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Staff cannot identify repeated faults or repair priorities.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69815"/>
            <a:ext cx="5264794" cy="2714625"/>
          </a:xfrm>
          <a:prstGeom prst="roundRect">
            <a:avLst>
              <a:gd name="adj" fmla="val 7017"/>
            </a:avLst>
          </a:prstGeom>
          <a:solidFill>
            <a:srgbClr val="D4D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79194" y="2274540"/>
            <a:ext cx="5403205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9194" y="3427065"/>
            <a:ext cx="5403205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9194" y="4579590"/>
            <a:ext cx="5403205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79194" y="2274540"/>
            <a:ext cx="47625" cy="100012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9194" y="3427065"/>
            <a:ext cx="47625" cy="1000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9194" y="4579590"/>
            <a:ext cx="47625" cy="10001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723" y="2950815"/>
            <a:ext cx="914400" cy="914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898" y="3179415"/>
            <a:ext cx="40005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419" y="2660302"/>
            <a:ext cx="25717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419" y="3812827"/>
            <a:ext cx="25717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419" y="4965352"/>
            <a:ext cx="200025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366F1"/>
                </a:solidFill>
                <a:latin typeface="Plus Jakarta Sans"/>
              </a:rPr>
              <a:t>THE INNOVATION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90575"/>
            <a:ext cx="115824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Space Grotesk"/>
              </a:rPr>
              <a:t>How LabPulse Solves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7955" y="4093815"/>
            <a:ext cx="3487935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1E1B4B"/>
                </a:solidFill>
                <a:latin typeface="Plus Jakarta Sans"/>
              </a:rPr>
              <a:t>Scan. Check. Report.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750" y="4484340"/>
            <a:ext cx="5628493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75" i="0" u="none">
                <a:solidFill>
                  <a:srgbClr val="3730A3"/>
                </a:solidFill>
                <a:latin typeface="Plus Jakarta Sans"/>
              </a:rPr>
              <a:t>Unique QR codes attached to each machine allow instant status lookups &amp; ticket merges.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094" y="2465040"/>
            <a:ext cx="528890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Smart Ticket Merging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094" y="2722215"/>
            <a:ext cx="454595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Repeated reports automatically increment a count instead of duplicating tickets.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094" y="3617565"/>
            <a:ext cx="528890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Real-Time Status Transparency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094" y="3874740"/>
            <a:ext cx="454595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Students see whether a machine is already "In progress" before typing a report.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5944" y="4770090"/>
            <a:ext cx="534605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Priority Signal for Staff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5944" y="5027265"/>
            <a:ext cx="460310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High report counts automatically highlight recurring maintenance issues.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19775"/>
            <a:ext cx="10972800" cy="504825"/>
          </a:xfrm>
          <a:prstGeom prst="roundRect">
            <a:avLst>
              <a:gd name="adj" fmla="val 22641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43212"/>
            <a:ext cx="2421731" cy="1495425"/>
          </a:xfrm>
          <a:prstGeom prst="roundRect">
            <a:avLst>
              <a:gd name="adj" fmla="val 101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59956" y="2843212"/>
            <a:ext cx="2421731" cy="1495425"/>
          </a:xfrm>
          <a:prstGeom prst="roundRect">
            <a:avLst>
              <a:gd name="adj" fmla="val 101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10312" y="2843212"/>
            <a:ext cx="2421731" cy="1495425"/>
          </a:xfrm>
          <a:prstGeom prst="roundRect">
            <a:avLst>
              <a:gd name="adj" fmla="val 101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60668" y="2843212"/>
            <a:ext cx="2421731" cy="1495425"/>
          </a:xfrm>
          <a:prstGeom prst="roundRect">
            <a:avLst>
              <a:gd name="adj" fmla="val 101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731" y="3495675"/>
            <a:ext cx="12382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087" y="3495675"/>
            <a:ext cx="12382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443" y="3495675"/>
            <a:ext cx="1238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065" y="3119437"/>
            <a:ext cx="3048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6509" y="3119437"/>
            <a:ext cx="428625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8778" y="3119437"/>
            <a:ext cx="3048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9134" y="3119437"/>
            <a:ext cx="3048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5987" y="6010275"/>
            <a:ext cx="142875" cy="142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-381000" y="533400"/>
            <a:ext cx="12954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6366F1"/>
                </a:solidFill>
                <a:latin typeface="Plus Jakarta Sans"/>
              </a:rPr>
              <a:t>CLOUD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381000" y="790575"/>
            <a:ext cx="12954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850" i="0" u="none">
                <a:solidFill>
                  <a:srgbClr val="0F172A"/>
                </a:solidFill>
                <a:latin typeface="Space Grotesk"/>
              </a:rPr>
              <a:t>Serverless Stack on AWS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279796" y="5981700"/>
            <a:ext cx="12751593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40AF"/>
                </a:solidFill>
                <a:latin typeface="Plus Jakarta Sans"/>
              </a:rPr>
              <a:t>Zero VPC overhead, zero server idle costs, and instant Single-Key DynamoDB queries for duplicate detection.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37" y="3614737"/>
            <a:ext cx="26534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Amazon 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914" y="3890962"/>
            <a:ext cx="252710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Static Frontend Hosting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4093" y="3614737"/>
            <a:ext cx="26534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API Gateway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7271" y="3890962"/>
            <a:ext cx="252710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REST HTTP Endpoint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4449" y="3614737"/>
            <a:ext cx="26534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AWS Lambda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7627" y="3890962"/>
            <a:ext cx="252710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Serverless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4806" y="3614737"/>
            <a:ext cx="26534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DynamoDB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983" y="3890962"/>
            <a:ext cx="252710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NoSQL Data Store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303115"/>
            <a:ext cx="76200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700" y="2531715"/>
            <a:ext cx="2286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58120" y="3331815"/>
            <a:ext cx="6075759" cy="594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b="1" sz="3900" i="0" u="none">
                <a:solidFill>
                  <a:srgbClr val="FFFFFF"/>
                </a:solidFill>
                <a:latin typeface="Space Grotesk"/>
              </a:rPr>
              <a:t>Live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4078485"/>
            <a:ext cx="7143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CBD5E1"/>
                </a:solidFill>
                <a:latin typeface="Plus Jakarta Sans"/>
              </a:rPr>
              <a:t>Let's walk through the working frontend application, duplicate detection workflow, staff dashboard, and AWS console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